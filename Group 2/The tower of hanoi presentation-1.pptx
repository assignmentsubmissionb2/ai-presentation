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7" r:id="rId4"/>
    <p:sldId id="258" r:id="rId5"/>
    <p:sldId id="259" r:id="rId6"/>
    <p:sldId id="260" r:id="rId7"/>
    <p:sldId id="261" r:id="rId8"/>
    <p:sldId id="262" r:id="rId9"/>
    <p:sldId id="263" r:id="rId10"/>
    <p:sldId id="264" r:id="rId11"/>
    <p:sldId id="271" r:id="rId12"/>
    <p:sldId id="265" r:id="rId13"/>
    <p:sldId id="269" r:id="rId14"/>
    <p:sldId id="266" r:id="rId15"/>
    <p:sldId id="267" r:id="rId16"/>
    <p:sldId id="268"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049" autoAdjust="0"/>
  </p:normalViewPr>
  <p:slideViewPr>
    <p:cSldViewPr snapToGrid="0">
      <p:cViewPr>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DE05E-77DA-95FC-67A0-A436255A7D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CFE32F-1543-49F3-CB2C-E1ACDE732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B474F5-D2BF-0B8F-23D7-81526273C781}"/>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5" name="Footer Placeholder 4">
            <a:extLst>
              <a:ext uri="{FF2B5EF4-FFF2-40B4-BE49-F238E27FC236}">
                <a16:creationId xmlns:a16="http://schemas.microsoft.com/office/drawing/2014/main" id="{90FD8632-9A0A-9FB3-3110-85F3221B1D8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FF004A7-0156-3222-1840-BE034FADB3CF}"/>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4197473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CD096-2A05-8D3F-4D45-B8CF05D690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317507-4B91-FAD4-C0C9-89F544DCCE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82A98C-BDE6-FDD4-ECE7-6F4AFB7B01EE}"/>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5" name="Footer Placeholder 4">
            <a:extLst>
              <a:ext uri="{FF2B5EF4-FFF2-40B4-BE49-F238E27FC236}">
                <a16:creationId xmlns:a16="http://schemas.microsoft.com/office/drawing/2014/main" id="{2341B579-04BE-5179-983D-8D59CECCBA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D0DA2A-9986-3541-1C8E-E14A4F180722}"/>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3994387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98C5-9DA7-13A3-65FF-72D0E348E6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D18B29-2FC4-784A-C4B4-B5EAFF95FB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8722C9-F451-0804-02CE-EA0084A2F699}"/>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5" name="Footer Placeholder 4">
            <a:extLst>
              <a:ext uri="{FF2B5EF4-FFF2-40B4-BE49-F238E27FC236}">
                <a16:creationId xmlns:a16="http://schemas.microsoft.com/office/drawing/2014/main" id="{DD3E7C2B-D3DC-CB65-6CEF-071FAAD218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A9755B3-9294-E6A6-20F5-DA6E1969ED09}"/>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4131620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56F9E-5447-965A-4E71-C87B5A36BE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A144D3-BA13-45C5-7C56-A28F6EFF3B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41003F-768F-AA0E-6920-3768CBA62A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523963-BEB3-4C08-56B6-0228A3AED4AC}"/>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6" name="Footer Placeholder 5">
            <a:extLst>
              <a:ext uri="{FF2B5EF4-FFF2-40B4-BE49-F238E27FC236}">
                <a16:creationId xmlns:a16="http://schemas.microsoft.com/office/drawing/2014/main" id="{05608263-758F-6719-7861-BA72E8CF254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538571D-8746-EB9F-8CFC-A328718650A5}"/>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1227299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A8FA-D931-8C0D-BDA7-CB31FC567B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7AB7C1-1FC9-0778-2236-447A92BDD5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F10D67-C519-7E77-DAA4-71C650CAF7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76C841-2ACA-07C4-EA30-C2F297036C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D929EB-ACB3-A0F7-2BE4-844B5E2B21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54D18F-7172-EE00-4694-1F8E0F55D35B}"/>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8" name="Footer Placeholder 7">
            <a:extLst>
              <a:ext uri="{FF2B5EF4-FFF2-40B4-BE49-F238E27FC236}">
                <a16:creationId xmlns:a16="http://schemas.microsoft.com/office/drawing/2014/main" id="{DFC70996-2981-DA09-B311-0D4C4BD5558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6BB40DB-1C2E-95F1-7BF8-EA5135212C8F}"/>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375012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7D70-087E-9203-2E50-23557A857D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AD149F-898C-C3FB-7407-FAE4A59061CE}"/>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4" name="Footer Placeholder 3">
            <a:extLst>
              <a:ext uri="{FF2B5EF4-FFF2-40B4-BE49-F238E27FC236}">
                <a16:creationId xmlns:a16="http://schemas.microsoft.com/office/drawing/2014/main" id="{6006B070-FA16-98CE-219B-4CF3A5C47EB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26DAAB2-4FA9-DB0E-163D-D978F7B58836}"/>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2782135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004A30-19C3-7754-C5BD-2BA0891FD2C5}"/>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3" name="Footer Placeholder 2">
            <a:extLst>
              <a:ext uri="{FF2B5EF4-FFF2-40B4-BE49-F238E27FC236}">
                <a16:creationId xmlns:a16="http://schemas.microsoft.com/office/drawing/2014/main" id="{EF74574D-72B6-58F8-8AC1-200520DB051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50304AE-02FD-C9D0-C857-53EC7335DE64}"/>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29803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6C75F-15E5-02FC-8CD6-FFC47965B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0E0D82-2EB1-B477-5304-1F38D1A829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A70637-0ED8-3413-8011-EAAAB679CD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29BEEC-7FD8-B2A2-D68B-99D1A3E2D92F}"/>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6" name="Footer Placeholder 5">
            <a:extLst>
              <a:ext uri="{FF2B5EF4-FFF2-40B4-BE49-F238E27FC236}">
                <a16:creationId xmlns:a16="http://schemas.microsoft.com/office/drawing/2014/main" id="{542780D0-0B46-17CF-1640-E90FB2165F4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5933911-61D2-5962-DED5-3061209CAA9D}"/>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1818198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39E83-9417-19ED-3020-B4CBFC36F7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1E6802-4592-A33B-EAD3-8D5A95F90F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7B1B945-19B7-CA24-B50E-CB7B7DADB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AA8C18-8CE7-FD76-700E-B5AC4D24C052}"/>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6" name="Footer Placeholder 5">
            <a:extLst>
              <a:ext uri="{FF2B5EF4-FFF2-40B4-BE49-F238E27FC236}">
                <a16:creationId xmlns:a16="http://schemas.microsoft.com/office/drawing/2014/main" id="{B2412996-CD5D-FB9A-FFEE-D5DE03DC8A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5F43534-F726-D140-4AEB-96096A9EAAAE}"/>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1010397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60E71-919A-6BF8-2DBC-C6C2AC186A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A24123-ADE1-EBC7-5D3E-72C0F7373B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8CC92E-F2E1-4622-E53C-D35B8920E54C}"/>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5" name="Footer Placeholder 4">
            <a:extLst>
              <a:ext uri="{FF2B5EF4-FFF2-40B4-BE49-F238E27FC236}">
                <a16:creationId xmlns:a16="http://schemas.microsoft.com/office/drawing/2014/main" id="{1A1CEE6C-CE14-CDB2-01FF-6739FFB916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60C130-F8BB-1425-47F2-5F3B1A3D9DCE}"/>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3519171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628EB2-F626-22A3-2A61-3DDD295579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7D0CFF-538F-A197-499F-A98795E41F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1C178C-0D94-605D-35D2-2A782A3AF266}"/>
              </a:ext>
            </a:extLst>
          </p:cNvPr>
          <p:cNvSpPr>
            <a:spLocks noGrp="1"/>
          </p:cNvSpPr>
          <p:nvPr>
            <p:ph type="dt" sz="half" idx="10"/>
          </p:nvPr>
        </p:nvSpPr>
        <p:spPr/>
        <p:txBody>
          <a:bodyPr/>
          <a:lstStyle/>
          <a:p>
            <a:fld id="{5B70D378-D246-4998-AC1C-479B7A47C724}" type="datetimeFigureOut">
              <a:rPr lang="en-US" smtClean="0"/>
              <a:t>1/11/2026</a:t>
            </a:fld>
            <a:endParaRPr lang="en-US" dirty="0"/>
          </a:p>
        </p:txBody>
      </p:sp>
      <p:sp>
        <p:nvSpPr>
          <p:cNvPr id="5" name="Footer Placeholder 4">
            <a:extLst>
              <a:ext uri="{FF2B5EF4-FFF2-40B4-BE49-F238E27FC236}">
                <a16:creationId xmlns:a16="http://schemas.microsoft.com/office/drawing/2014/main" id="{6BA1E205-02B0-A483-476F-67F92338A84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078D05-DEB5-B809-86AA-C698EEC30A0B}"/>
              </a:ext>
            </a:extLst>
          </p:cNvPr>
          <p:cNvSpPr>
            <a:spLocks noGrp="1"/>
          </p:cNvSpPr>
          <p:nvPr>
            <p:ph type="sldNum" sz="quarter" idx="12"/>
          </p:nvPr>
        </p:nvSpPr>
        <p:spPr/>
        <p:txBody>
          <a:bodyPr/>
          <a:lstStyle/>
          <a:p>
            <a:fld id="{A643B139-2EFB-4AEF-9D66-BE1FEA496C5A}" type="slidenum">
              <a:rPr lang="en-US" smtClean="0"/>
              <a:t>‹#›</a:t>
            </a:fld>
            <a:endParaRPr lang="en-US" dirty="0"/>
          </a:p>
        </p:txBody>
      </p:sp>
    </p:spTree>
    <p:extLst>
      <p:ext uri="{BB962C8B-B14F-4D97-AF65-F5344CB8AC3E}">
        <p14:creationId xmlns:p14="http://schemas.microsoft.com/office/powerpoint/2010/main" val="1531206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373F2-7049-3BAB-24CA-C6326802BE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01CDD8-0527-C1A0-E792-37C72458C0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08130D-C425-7604-F25C-ECE2811889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70D378-D246-4998-AC1C-479B7A47C724}" type="datetimeFigureOut">
              <a:rPr lang="en-US" smtClean="0"/>
              <a:t>1/11/2026</a:t>
            </a:fld>
            <a:endParaRPr lang="en-US" dirty="0"/>
          </a:p>
        </p:txBody>
      </p:sp>
      <p:sp>
        <p:nvSpPr>
          <p:cNvPr id="5" name="Footer Placeholder 4">
            <a:extLst>
              <a:ext uri="{FF2B5EF4-FFF2-40B4-BE49-F238E27FC236}">
                <a16:creationId xmlns:a16="http://schemas.microsoft.com/office/drawing/2014/main" id="{C0855E34-369A-B1F4-4FA1-2B6E123D19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1139B653-19DC-8A48-E943-ECAD0A93ED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43B139-2EFB-4AEF-9D66-BE1FEA496C5A}" type="slidenum">
              <a:rPr lang="en-US" smtClean="0"/>
              <a:t>‹#›</a:t>
            </a:fld>
            <a:endParaRPr lang="en-US" dirty="0"/>
          </a:p>
        </p:txBody>
      </p:sp>
    </p:spTree>
    <p:extLst>
      <p:ext uri="{BB962C8B-B14F-4D97-AF65-F5344CB8AC3E}">
        <p14:creationId xmlns:p14="http://schemas.microsoft.com/office/powerpoint/2010/main" val="2836265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CA849-3D89-746A-6759-3DFC8CBCD258}"/>
              </a:ext>
            </a:extLst>
          </p:cNvPr>
          <p:cNvSpPr>
            <a:spLocks noGrp="1"/>
          </p:cNvSpPr>
          <p:nvPr>
            <p:ph type="ctrTitle"/>
          </p:nvPr>
        </p:nvSpPr>
        <p:spPr>
          <a:xfrm>
            <a:off x="1524000" y="524388"/>
            <a:ext cx="9144000" cy="2387600"/>
          </a:xfrm>
        </p:spPr>
        <p:txBody>
          <a:bodyPr/>
          <a:lstStyle/>
          <a:p>
            <a:r>
              <a:rPr lang="en-US" dirty="0">
                <a:latin typeface="Times New Roman" panose="02020603050405020304" pitchFamily="18" charset="0"/>
                <a:cs typeface="Times New Roman" panose="02020603050405020304" pitchFamily="18" charset="0"/>
              </a:rPr>
              <a:t>The Tower of Hanoi</a:t>
            </a:r>
          </a:p>
        </p:txBody>
      </p:sp>
      <p:sp>
        <p:nvSpPr>
          <p:cNvPr id="4" name="Subtitle 3">
            <a:extLst>
              <a:ext uri="{FF2B5EF4-FFF2-40B4-BE49-F238E27FC236}">
                <a16:creationId xmlns:a16="http://schemas.microsoft.com/office/drawing/2014/main" id="{A81473BA-63A8-71EC-1529-FFF655AF06A1}"/>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By Section 2 Group 2</a:t>
            </a:r>
          </a:p>
        </p:txBody>
      </p:sp>
    </p:spTree>
    <p:extLst>
      <p:ext uri="{BB962C8B-B14F-4D97-AF65-F5344CB8AC3E}">
        <p14:creationId xmlns:p14="http://schemas.microsoft.com/office/powerpoint/2010/main" val="2013100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B62F7-9F2C-7461-25CB-9839A8D9A06C}"/>
              </a:ext>
            </a:extLst>
          </p:cNvPr>
          <p:cNvSpPr>
            <a:spLocks noGrp="1"/>
          </p:cNvSpPr>
          <p:nvPr>
            <p:ph type="title"/>
          </p:nvPr>
        </p:nvSpPr>
        <p:spPr>
          <a:xfrm>
            <a:off x="850490" y="306132"/>
            <a:ext cx="10515600" cy="1325563"/>
          </a:xfrm>
        </p:spPr>
        <p:txBody>
          <a:bodyPr/>
          <a:lstStyle/>
          <a:p>
            <a:r>
              <a:rPr lang="en-US" dirty="0">
                <a:latin typeface="Times New Roman" panose="02020603050405020304" pitchFamily="18" charset="0"/>
                <a:cs typeface="Times New Roman" panose="02020603050405020304" pitchFamily="18" charset="0"/>
              </a:rPr>
              <a:t>Group members:</a:t>
            </a:r>
          </a:p>
        </p:txBody>
      </p:sp>
      <p:sp>
        <p:nvSpPr>
          <p:cNvPr id="4" name="Subtitle 4">
            <a:extLst>
              <a:ext uri="{FF2B5EF4-FFF2-40B4-BE49-F238E27FC236}">
                <a16:creationId xmlns:a16="http://schemas.microsoft.com/office/drawing/2014/main" id="{258FBB9C-33DA-A61D-9B5A-39F07703A580}"/>
              </a:ext>
            </a:extLst>
          </p:cNvPr>
          <p:cNvSpPr>
            <a:spLocks noGrp="1"/>
          </p:cNvSpPr>
          <p:nvPr>
            <p:ph idx="1"/>
          </p:nvPr>
        </p:nvSpPr>
        <p:spPr>
          <a:xfrm>
            <a:off x="838200" y="1366684"/>
            <a:ext cx="10515600" cy="4810279"/>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Jwambe Joro Danjuma-20230867</a:t>
            </a:r>
          </a:p>
          <a:p>
            <a:r>
              <a:rPr lang="en-US" dirty="0">
                <a:latin typeface="Times New Roman" panose="02020603050405020304" pitchFamily="18" charset="0"/>
                <a:cs typeface="Times New Roman" panose="02020603050405020304" pitchFamily="18" charset="0"/>
              </a:rPr>
              <a:t>Joseph Gana-241030095</a:t>
            </a:r>
          </a:p>
          <a:p>
            <a:r>
              <a:rPr lang="en-US" dirty="0">
                <a:latin typeface="Times New Roman" panose="02020603050405020304" pitchFamily="18" charset="0"/>
                <a:cs typeface="Times New Roman" panose="02020603050405020304" pitchFamily="18" charset="0"/>
              </a:rPr>
              <a:t>Adie Prisca Omaku-20231550</a:t>
            </a:r>
          </a:p>
          <a:p>
            <a:r>
              <a:rPr lang="en-US" dirty="0">
                <a:latin typeface="Times New Roman" panose="02020603050405020304" pitchFamily="18" charset="0"/>
                <a:cs typeface="Times New Roman" panose="02020603050405020304" pitchFamily="18" charset="0"/>
              </a:rPr>
              <a:t>Amina Fadila Wanka-241030226</a:t>
            </a:r>
          </a:p>
          <a:p>
            <a:r>
              <a:rPr lang="en-US" dirty="0" err="1">
                <a:latin typeface="Times New Roman" panose="02020603050405020304" pitchFamily="18" charset="0"/>
                <a:cs typeface="Times New Roman" panose="02020603050405020304" pitchFamily="18" charset="0"/>
              </a:rPr>
              <a:t>Tukuru</a:t>
            </a:r>
            <a:r>
              <a:rPr lang="en-US" dirty="0">
                <a:latin typeface="Times New Roman" panose="02020603050405020304" pitchFamily="18" charset="0"/>
                <a:cs typeface="Times New Roman" panose="02020603050405020304" pitchFamily="18" charset="0"/>
              </a:rPr>
              <a:t> Desola-241030224</a:t>
            </a:r>
          </a:p>
          <a:p>
            <a:r>
              <a:rPr lang="en-US" dirty="0" err="1">
                <a:latin typeface="Times New Roman" panose="02020603050405020304" pitchFamily="18" charset="0"/>
                <a:cs typeface="Times New Roman" panose="02020603050405020304" pitchFamily="18" charset="0"/>
              </a:rPr>
              <a:t>Oguntoye</a:t>
            </a:r>
            <a:r>
              <a:rPr lang="en-US" dirty="0">
                <a:latin typeface="Times New Roman" panose="02020603050405020304" pitchFamily="18" charset="0"/>
                <a:cs typeface="Times New Roman" panose="02020603050405020304" pitchFamily="18" charset="0"/>
              </a:rPr>
              <a:t> Oluwabusayomi-241030219</a:t>
            </a:r>
          </a:p>
          <a:p>
            <a:r>
              <a:rPr lang="en-US" dirty="0">
                <a:latin typeface="Times New Roman" panose="02020603050405020304" pitchFamily="18" charset="0"/>
                <a:cs typeface="Times New Roman" panose="02020603050405020304" pitchFamily="18" charset="0"/>
              </a:rPr>
              <a:t>Isioma Oaikhena-20231375</a:t>
            </a:r>
          </a:p>
          <a:p>
            <a:r>
              <a:rPr lang="en-US" dirty="0">
                <a:latin typeface="Times New Roman" panose="02020603050405020304" pitchFamily="18" charset="0"/>
                <a:cs typeface="Times New Roman" panose="02020603050405020304" pitchFamily="18" charset="0"/>
              </a:rPr>
              <a:t>Ruqayyah Kassim Hussain-241030220</a:t>
            </a:r>
          </a:p>
          <a:p>
            <a:r>
              <a:rPr lang="en-US" dirty="0" err="1">
                <a:latin typeface="Times New Roman" panose="02020603050405020304" pitchFamily="18" charset="0"/>
                <a:cs typeface="Times New Roman" panose="02020603050405020304" pitchFamily="18" charset="0"/>
              </a:rPr>
              <a:t>Adindu</a:t>
            </a:r>
            <a:r>
              <a:rPr lang="en-US" dirty="0">
                <a:latin typeface="Times New Roman" panose="02020603050405020304" pitchFamily="18" charset="0"/>
                <a:cs typeface="Times New Roman" panose="02020603050405020304" pitchFamily="18" charset="0"/>
              </a:rPr>
              <a:t> Ozioma-20220129</a:t>
            </a:r>
          </a:p>
          <a:p>
            <a:r>
              <a:rPr lang="en-US" dirty="0">
                <a:latin typeface="Times New Roman" panose="02020603050405020304" pitchFamily="18" charset="0"/>
                <a:cs typeface="Times New Roman" panose="02020603050405020304" pitchFamily="18" charset="0"/>
              </a:rPr>
              <a:t>Maimuna Babangida-20231958</a:t>
            </a:r>
          </a:p>
          <a:p>
            <a:r>
              <a:rPr lang="en-US" dirty="0">
                <a:latin typeface="Times New Roman" panose="02020603050405020304" pitchFamily="18" charset="0"/>
                <a:cs typeface="Times New Roman" panose="02020603050405020304" pitchFamily="18" charset="0"/>
              </a:rPr>
              <a:t>Fawwaz Ajibola-20230853</a:t>
            </a:r>
          </a:p>
          <a:p>
            <a:r>
              <a:rPr lang="en-US" dirty="0">
                <a:latin typeface="Times New Roman" panose="02020603050405020304" pitchFamily="18" charset="0"/>
                <a:cs typeface="Times New Roman" panose="02020603050405020304" pitchFamily="18" charset="0"/>
              </a:rPr>
              <a:t>Aisha Bala Mohammed-20230967</a:t>
            </a:r>
          </a:p>
        </p:txBody>
      </p:sp>
    </p:spTree>
    <p:extLst>
      <p:ext uri="{BB962C8B-B14F-4D97-AF65-F5344CB8AC3E}">
        <p14:creationId xmlns:p14="http://schemas.microsoft.com/office/powerpoint/2010/main" val="3703679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DBDB-AE03-2361-E6CF-F9635B0DF7D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the Tower of Hanoi?</a:t>
            </a:r>
          </a:p>
        </p:txBody>
      </p:sp>
      <p:sp>
        <p:nvSpPr>
          <p:cNvPr id="3" name="Content Placeholder 2">
            <a:extLst>
              <a:ext uri="{FF2B5EF4-FFF2-40B4-BE49-F238E27FC236}">
                <a16:creationId xmlns:a16="http://schemas.microsoft.com/office/drawing/2014/main" id="{EF51025A-36A1-26ED-B5D8-A311BF81374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classic mathematical/computer science problem that is widely used in AI to explain problem-solving, recursion and logical reasoning.</a:t>
            </a:r>
          </a:p>
          <a:p>
            <a:r>
              <a:rPr lang="en-US" dirty="0">
                <a:latin typeface="Times New Roman" panose="02020603050405020304" pitchFamily="18" charset="0"/>
                <a:cs typeface="Times New Roman" panose="02020603050405020304" pitchFamily="18" charset="0"/>
              </a:rPr>
              <a:t>It was invented in 1883 by the French mathematician </a:t>
            </a:r>
            <a:r>
              <a:rPr lang="en-US" i="1" dirty="0">
                <a:latin typeface="Times New Roman" panose="02020603050405020304" pitchFamily="18" charset="0"/>
                <a:cs typeface="Times New Roman" panose="02020603050405020304" pitchFamily="18" charset="0"/>
              </a:rPr>
              <a:t>Edouard Lucas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The problem consists of three vertical pegs (or rods) and a number of circular disks of different sizes. These disks are initially stacked on one peg in increasing order of size, with the largest disk at the bottom.</a:t>
            </a:r>
          </a:p>
        </p:txBody>
      </p:sp>
    </p:spTree>
    <p:extLst>
      <p:ext uri="{BB962C8B-B14F-4D97-AF65-F5344CB8AC3E}">
        <p14:creationId xmlns:p14="http://schemas.microsoft.com/office/powerpoint/2010/main" val="846252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F46D7-731D-CAEF-C5F9-53E918762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4F6E6-3845-5964-ED0F-746F180A765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the Tower of Hanoi?</a:t>
            </a:r>
          </a:p>
        </p:txBody>
      </p:sp>
      <p:sp>
        <p:nvSpPr>
          <p:cNvPr id="3" name="Content Placeholder 2">
            <a:extLst>
              <a:ext uri="{FF2B5EF4-FFF2-40B4-BE49-F238E27FC236}">
                <a16:creationId xmlns:a16="http://schemas.microsoft.com/office/drawing/2014/main" id="{968C08CE-BB37-41AD-EB78-FA9A31049D2B}"/>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In solving the Tower of Hanoi there are strict rules that must be followed.</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First, only one disk may be moved at a time.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Second, a disk can only be placed on top of a larger disk or on an empty peg.</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Third, all movements must be made using the three pegs provided. </a:t>
            </a:r>
          </a:p>
        </p:txBody>
      </p:sp>
    </p:spTree>
    <p:extLst>
      <p:ext uri="{BB962C8B-B14F-4D97-AF65-F5344CB8AC3E}">
        <p14:creationId xmlns:p14="http://schemas.microsoft.com/office/powerpoint/2010/main" val="1511662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587F8-2DE0-FC39-35CF-BCE71EE08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AF113-D1C2-2F32-253B-4BC216177AC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Major challenges in solving the Tower of Hanoi</a:t>
            </a:r>
          </a:p>
        </p:txBody>
      </p:sp>
      <p:sp>
        <p:nvSpPr>
          <p:cNvPr id="3" name="Content Placeholder 2">
            <a:extLst>
              <a:ext uri="{FF2B5EF4-FFF2-40B4-BE49-F238E27FC236}">
                <a16:creationId xmlns:a16="http://schemas.microsoft.com/office/drawing/2014/main" id="{D2BB5C37-9F47-BA49-1819-6439F7FA9E14}"/>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Although the tower of Hanoi has simple rules and a clearly defined goal, it presents several challenges that are important in the study of Artificial intelligence and problem solving at large. The following are the problems related to the tower of Hanoi:</a:t>
            </a:r>
          </a:p>
        </p:txBody>
      </p:sp>
    </p:spTree>
    <p:extLst>
      <p:ext uri="{BB962C8B-B14F-4D97-AF65-F5344CB8AC3E}">
        <p14:creationId xmlns:p14="http://schemas.microsoft.com/office/powerpoint/2010/main" val="1816401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C2A54-F3A0-6D5B-25F7-954B4FEEB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DDF5F-3E8E-6C06-F045-8EFF54917EE5}"/>
              </a:ext>
            </a:extLst>
          </p:cNvPr>
          <p:cNvSpPr>
            <a:spLocks noGrp="1"/>
          </p:cNvSpPr>
          <p:nvPr>
            <p:ph type="title"/>
          </p:nvPr>
        </p:nvSpPr>
        <p:spPr/>
        <p:txBody>
          <a:bodyPr/>
          <a:lstStyle/>
          <a:p>
            <a:r>
              <a:rPr lang="en-US" dirty="0">
                <a:solidFill>
                  <a:schemeClr val="bg2">
                    <a:lumMod val="90000"/>
                  </a:schemeClr>
                </a:solidFill>
                <a:latin typeface="Times New Roman" panose="02020603050405020304" pitchFamily="18" charset="0"/>
                <a:cs typeface="Times New Roman" panose="02020603050405020304" pitchFamily="18" charset="0"/>
              </a:rPr>
              <a:t>Major challenges in solving the Tower of Hanoi</a:t>
            </a:r>
          </a:p>
        </p:txBody>
      </p:sp>
      <p:sp>
        <p:nvSpPr>
          <p:cNvPr id="3" name="Content Placeholder 2">
            <a:extLst>
              <a:ext uri="{FF2B5EF4-FFF2-40B4-BE49-F238E27FC236}">
                <a16:creationId xmlns:a16="http://schemas.microsoft.com/office/drawing/2014/main" id="{BDDEF3F2-8CBB-EBA8-B033-CE63C7D37E58}"/>
              </a:ext>
            </a:extLst>
          </p:cNvPr>
          <p:cNvSpPr>
            <a:spLocks noGrp="1"/>
          </p:cNvSpPr>
          <p:nvPr>
            <p:ph idx="1"/>
          </p:nvPr>
        </p:nvSpPr>
        <p:spPr/>
        <p:txBody>
          <a:bodyPr>
            <a:normAutofit lnSpcReduction="10000"/>
          </a:bodyPr>
          <a:lstStyle/>
          <a:p>
            <a:pPr marL="0" indent="0" algn="r">
              <a:buNone/>
            </a:pPr>
            <a:r>
              <a:rPr lang="en-US" dirty="0">
                <a:latin typeface="Times New Roman" panose="02020603050405020304" pitchFamily="18" charset="0"/>
                <a:cs typeface="Times New Roman" panose="02020603050405020304" pitchFamily="18" charset="0"/>
              </a:rPr>
              <a:t>The number of moves required to solve the problem grows at </a:t>
            </a:r>
          </a:p>
          <a:p>
            <a:pPr marL="0" indent="0" algn="r">
              <a:buNone/>
            </a:pPr>
            <a:r>
              <a:rPr lang="en-US" dirty="0">
                <a:latin typeface="Times New Roman" panose="02020603050405020304" pitchFamily="18" charset="0"/>
                <a:cs typeface="Times New Roman" panose="02020603050405020304" pitchFamily="18" charset="0"/>
              </a:rPr>
              <a:t>(2n-12</a:t>
            </a:r>
            <a:r>
              <a:rPr lang="en-US" baseline="30000"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12n-1). </a:t>
            </a:r>
          </a:p>
          <a:p>
            <a:pPr marL="0" indent="0" algn="r">
              <a:buNone/>
            </a:pPr>
            <a:r>
              <a:rPr lang="en-US" dirty="0">
                <a:latin typeface="Times New Roman" panose="02020603050405020304" pitchFamily="18" charset="0"/>
                <a:cs typeface="Times New Roman" panose="02020603050405020304" pitchFamily="18" charset="0"/>
              </a:rPr>
              <a:t>This exponential increase means that even moderately large problem instances require a very large number of steps. In AI, this highlights the difficulty of scaling solutions and the need for efficient algorithms that can manage large problem spaces. </a:t>
            </a:r>
          </a:p>
        </p:txBody>
      </p:sp>
      <p:sp>
        <p:nvSpPr>
          <p:cNvPr id="4" name="Text Placeholder 3">
            <a:extLst>
              <a:ext uri="{FF2B5EF4-FFF2-40B4-BE49-F238E27FC236}">
                <a16:creationId xmlns:a16="http://schemas.microsoft.com/office/drawing/2014/main" id="{CA983A9F-9B7F-F44F-2931-2953E788D445}"/>
              </a:ext>
            </a:extLst>
          </p:cNvPr>
          <p:cNvSpPr>
            <a:spLocks noGrp="1"/>
          </p:cNvSpPr>
          <p:nvPr>
            <p:ph type="body" sz="half" idx="2"/>
          </p:nvPr>
        </p:nvSpPr>
        <p:spPr>
          <a:xfrm>
            <a:off x="839788" y="2155722"/>
            <a:ext cx="3932237" cy="3811588"/>
          </a:xfrm>
        </p:spPr>
        <p:txBody>
          <a:bodyPr>
            <a:normAutofit/>
          </a:bodyPr>
          <a:lstStyle/>
          <a:p>
            <a:r>
              <a:rPr lang="en-US" sz="4400" dirty="0">
                <a:latin typeface="Tahoma" panose="020B0604030504040204" pitchFamily="34" charset="0"/>
                <a:ea typeface="Tahoma" panose="020B0604030504040204" pitchFamily="34" charset="0"/>
                <a:cs typeface="Tahoma" panose="020B0604030504040204" pitchFamily="34" charset="0"/>
              </a:rPr>
              <a:t>Computational complexity</a:t>
            </a:r>
          </a:p>
          <a:p>
            <a:endParaRPr lang="en-US" sz="4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69175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1B8B-1771-909C-E3E0-CB04C66BD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F2F5-6327-4B41-9BAA-319AC720FB23}"/>
              </a:ext>
            </a:extLst>
          </p:cNvPr>
          <p:cNvSpPr>
            <a:spLocks noGrp="1"/>
          </p:cNvSpPr>
          <p:nvPr>
            <p:ph type="title"/>
          </p:nvPr>
        </p:nvSpPr>
        <p:spPr/>
        <p:txBody>
          <a:bodyPr/>
          <a:lstStyle/>
          <a:p>
            <a:r>
              <a:rPr lang="en-US" dirty="0">
                <a:solidFill>
                  <a:schemeClr val="bg2">
                    <a:lumMod val="90000"/>
                  </a:schemeClr>
                </a:solidFill>
                <a:latin typeface="Times New Roman" panose="02020603050405020304" pitchFamily="18" charset="0"/>
                <a:cs typeface="Times New Roman" panose="02020603050405020304" pitchFamily="18" charset="0"/>
              </a:rPr>
              <a:t>Major challenges in solving the Tower of Hanoi</a:t>
            </a:r>
          </a:p>
        </p:txBody>
      </p:sp>
      <p:sp>
        <p:nvSpPr>
          <p:cNvPr id="3" name="Content Placeholder 2">
            <a:extLst>
              <a:ext uri="{FF2B5EF4-FFF2-40B4-BE49-F238E27FC236}">
                <a16:creationId xmlns:a16="http://schemas.microsoft.com/office/drawing/2014/main" id="{7AC31F4B-D3E4-F05B-4563-9D81D00727D4}"/>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Without a structured strategy such as recursion or planning, an agent may waste time exploring unnecessary or redundant states. This emphasizes the importance of intelligent control strategies and well-defined operators to guide the search process toward the goal state efficiently.</a:t>
            </a:r>
          </a:p>
        </p:txBody>
      </p:sp>
      <p:sp>
        <p:nvSpPr>
          <p:cNvPr id="4" name="Text Placeholder 3">
            <a:extLst>
              <a:ext uri="{FF2B5EF4-FFF2-40B4-BE49-F238E27FC236}">
                <a16:creationId xmlns:a16="http://schemas.microsoft.com/office/drawing/2014/main" id="{5692E5AF-E7FD-2270-0F85-B6D2F6B538F8}"/>
              </a:ext>
            </a:extLst>
          </p:cNvPr>
          <p:cNvSpPr>
            <a:spLocks noGrp="1"/>
          </p:cNvSpPr>
          <p:nvPr>
            <p:ph type="body" sz="half" idx="2"/>
          </p:nvPr>
        </p:nvSpPr>
        <p:spPr/>
        <p:txBody>
          <a:bodyPr>
            <a:normAutofit/>
          </a:bodyPr>
          <a:lstStyle/>
          <a:p>
            <a:r>
              <a:rPr lang="en-US" sz="4400" dirty="0">
                <a:latin typeface="Tahoma" panose="020B0604030504040204" pitchFamily="34" charset="0"/>
                <a:ea typeface="Tahoma" panose="020B0604030504040204" pitchFamily="34" charset="0"/>
                <a:cs typeface="Tahoma" panose="020B0604030504040204" pitchFamily="34" charset="0"/>
              </a:rPr>
              <a:t>Search efficiency</a:t>
            </a:r>
          </a:p>
          <a:p>
            <a:endParaRPr lang="en-US" sz="4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93098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0478E-73B5-6AED-6DA0-9480DF666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BA717-3E7A-BA23-5013-E2331FEAF665}"/>
              </a:ext>
            </a:extLst>
          </p:cNvPr>
          <p:cNvSpPr>
            <a:spLocks noGrp="1"/>
          </p:cNvSpPr>
          <p:nvPr>
            <p:ph type="title"/>
          </p:nvPr>
        </p:nvSpPr>
        <p:spPr/>
        <p:txBody>
          <a:bodyPr/>
          <a:lstStyle/>
          <a:p>
            <a:r>
              <a:rPr lang="en-US" dirty="0">
                <a:solidFill>
                  <a:schemeClr val="bg2">
                    <a:lumMod val="90000"/>
                  </a:schemeClr>
                </a:solidFill>
                <a:latin typeface="Times New Roman" panose="02020603050405020304" pitchFamily="18" charset="0"/>
                <a:cs typeface="Times New Roman" panose="02020603050405020304" pitchFamily="18" charset="0"/>
              </a:rPr>
              <a:t>Major challenges in solving the Tower of Hanoi</a:t>
            </a:r>
          </a:p>
        </p:txBody>
      </p:sp>
      <p:sp>
        <p:nvSpPr>
          <p:cNvPr id="3" name="Content Placeholder 2">
            <a:extLst>
              <a:ext uri="{FF2B5EF4-FFF2-40B4-BE49-F238E27FC236}">
                <a16:creationId xmlns:a16="http://schemas.microsoft.com/office/drawing/2014/main" id="{48C0274A-D7F2-BF4C-F692-739321857E60}"/>
              </a:ext>
            </a:extLst>
          </p:cNvPr>
          <p:cNvSpPr>
            <a:spLocks noGrp="1"/>
          </p:cNvSpPr>
          <p:nvPr>
            <p:ph idx="1"/>
          </p:nvPr>
        </p:nvSpPr>
        <p:spPr>
          <a:xfrm>
            <a:off x="5180012" y="995363"/>
            <a:ext cx="6172200" cy="4873625"/>
          </a:xfrm>
        </p:spPr>
        <p:txBody>
          <a:bodyPr/>
          <a:lstStyle/>
          <a:p>
            <a:pPr marL="0" indent="0">
              <a:buNone/>
            </a:pPr>
            <a:r>
              <a:rPr lang="en-US" dirty="0">
                <a:latin typeface="Times New Roman" panose="02020603050405020304" pitchFamily="18" charset="0"/>
                <a:cs typeface="Times New Roman" panose="02020603050405020304" pitchFamily="18" charset="0"/>
              </a:rPr>
              <a:t>When modeled as a state-space search problem, storing and tracking visited states can consume significant memory, especially as the number of disks increases. This reflects real-world AI problems where memory constraints limit the feasibility of exhaustive search methods.</a:t>
            </a:r>
          </a:p>
        </p:txBody>
      </p:sp>
      <p:sp>
        <p:nvSpPr>
          <p:cNvPr id="4" name="Text Placeholder 3">
            <a:extLst>
              <a:ext uri="{FF2B5EF4-FFF2-40B4-BE49-F238E27FC236}">
                <a16:creationId xmlns:a16="http://schemas.microsoft.com/office/drawing/2014/main" id="{62E4F955-DE8B-F26B-EDEF-0A745D532F77}"/>
              </a:ext>
            </a:extLst>
          </p:cNvPr>
          <p:cNvSpPr>
            <a:spLocks noGrp="1"/>
          </p:cNvSpPr>
          <p:nvPr>
            <p:ph type="body" sz="half" idx="2"/>
          </p:nvPr>
        </p:nvSpPr>
        <p:spPr/>
        <p:txBody>
          <a:bodyPr>
            <a:normAutofit/>
          </a:bodyPr>
          <a:lstStyle/>
          <a:p>
            <a:r>
              <a:rPr lang="en-US" sz="4400" dirty="0">
                <a:latin typeface="Tahoma" panose="020B0604030504040204" pitchFamily="34" charset="0"/>
                <a:ea typeface="Tahoma" panose="020B0604030504040204" pitchFamily="34" charset="0"/>
                <a:cs typeface="Tahoma" panose="020B0604030504040204" pitchFamily="34" charset="0"/>
              </a:rPr>
              <a:t>Memory Usage</a:t>
            </a:r>
          </a:p>
          <a:p>
            <a:endParaRPr lang="en-US" sz="4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75888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BAA24-B97E-5062-77F9-E6F0BE962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07BF7-973E-FEB1-B272-7BB0F59F8720}"/>
              </a:ext>
            </a:extLst>
          </p:cNvPr>
          <p:cNvSpPr>
            <a:spLocks noGrp="1"/>
          </p:cNvSpPr>
          <p:nvPr>
            <p:ph type="title"/>
          </p:nvPr>
        </p:nvSpPr>
        <p:spPr/>
        <p:txBody>
          <a:bodyPr/>
          <a:lstStyle/>
          <a:p>
            <a:r>
              <a:rPr lang="en-US" dirty="0">
                <a:solidFill>
                  <a:schemeClr val="bg2">
                    <a:lumMod val="90000"/>
                  </a:schemeClr>
                </a:solidFill>
                <a:latin typeface="Times New Roman" panose="02020603050405020304" pitchFamily="18" charset="0"/>
                <a:cs typeface="Times New Roman" panose="02020603050405020304" pitchFamily="18" charset="0"/>
              </a:rPr>
              <a:t>Major challenges in solving the Tower of Hanoi</a:t>
            </a:r>
          </a:p>
        </p:txBody>
      </p:sp>
      <p:sp>
        <p:nvSpPr>
          <p:cNvPr id="3" name="Content Placeholder 2">
            <a:extLst>
              <a:ext uri="{FF2B5EF4-FFF2-40B4-BE49-F238E27FC236}">
                <a16:creationId xmlns:a16="http://schemas.microsoft.com/office/drawing/2014/main" id="{B39C4771-17BB-C0C8-51FE-951ECAF092F5}"/>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While the recursive solution is elegant, understanding how to decompose the problem correctly is not always intuitive for humans or intelligent agents. This reinforces the importance of abstraction and hierarchical problem-solving methods in Artificial Intelligence.</a:t>
            </a:r>
          </a:p>
        </p:txBody>
      </p:sp>
      <p:sp>
        <p:nvSpPr>
          <p:cNvPr id="4" name="Text Placeholder 3">
            <a:extLst>
              <a:ext uri="{FF2B5EF4-FFF2-40B4-BE49-F238E27FC236}">
                <a16:creationId xmlns:a16="http://schemas.microsoft.com/office/drawing/2014/main" id="{6DA45804-A623-D66E-62BA-04FBEE64866D}"/>
              </a:ext>
            </a:extLst>
          </p:cNvPr>
          <p:cNvSpPr>
            <a:spLocks noGrp="1"/>
          </p:cNvSpPr>
          <p:nvPr>
            <p:ph type="body" sz="half" idx="2"/>
          </p:nvPr>
        </p:nvSpPr>
        <p:spPr/>
        <p:txBody>
          <a:bodyPr>
            <a:normAutofit/>
          </a:bodyPr>
          <a:lstStyle/>
          <a:p>
            <a:r>
              <a:rPr lang="en-US" sz="4400" dirty="0">
                <a:latin typeface="Tahoma" panose="020B0604030504040204" pitchFamily="34" charset="0"/>
                <a:ea typeface="Tahoma" panose="020B0604030504040204" pitchFamily="34" charset="0"/>
                <a:cs typeface="Tahoma" panose="020B0604030504040204" pitchFamily="34" charset="0"/>
              </a:rPr>
              <a:t>Problem decomposition difficulties</a:t>
            </a:r>
          </a:p>
        </p:txBody>
      </p:sp>
    </p:spTree>
    <p:extLst>
      <p:ext uri="{BB962C8B-B14F-4D97-AF65-F5344CB8AC3E}">
        <p14:creationId xmlns:p14="http://schemas.microsoft.com/office/powerpoint/2010/main" val="2834308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E9DD9-A748-6A09-A6E3-FC1699E17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51E62-C604-94B2-4889-6BABEC6A07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solve it</a:t>
            </a:r>
          </a:p>
        </p:txBody>
      </p:sp>
      <p:pic>
        <p:nvPicPr>
          <p:cNvPr id="4" name="WhatsApp Video 2026-01-08 at 13.39.26">
            <a:hlinkClick r:id="" action="ppaction://media"/>
            <a:extLst>
              <a:ext uri="{FF2B5EF4-FFF2-40B4-BE49-F238E27FC236}">
                <a16:creationId xmlns:a16="http://schemas.microsoft.com/office/drawing/2014/main" id="{094C7ED4-CD7D-DE25-DA64-87A236812AC5}"/>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225675" y="1825625"/>
            <a:ext cx="7742238" cy="4351338"/>
          </a:xfrm>
        </p:spPr>
      </p:pic>
    </p:spTree>
    <p:extLst>
      <p:ext uri="{BB962C8B-B14F-4D97-AF65-F5344CB8AC3E}">
        <p14:creationId xmlns:p14="http://schemas.microsoft.com/office/powerpoint/2010/main" val="426129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E0A22-216E-1C70-97D3-B489D2399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86969-94BF-F072-2DA6-2C5E61688BC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solve it</a:t>
            </a:r>
          </a:p>
        </p:txBody>
      </p:sp>
      <p:sp>
        <p:nvSpPr>
          <p:cNvPr id="3" name="Content Placeholder 2">
            <a:extLst>
              <a:ext uri="{FF2B5EF4-FFF2-40B4-BE49-F238E27FC236}">
                <a16:creationId xmlns:a16="http://schemas.microsoft.com/office/drawing/2014/main" id="{CAE929C4-0C42-8C8E-9411-0E5D60E9132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key to solving the Tower of Hanoi problem lies in breaking the problem into smaller, manageable subproblems, a strategy known in Artificial Intelligence as </a:t>
            </a:r>
            <a:r>
              <a:rPr lang="en-US" b="1" dirty="0">
                <a:latin typeface="Times New Roman" panose="02020603050405020304" pitchFamily="18" charset="0"/>
                <a:cs typeface="Times New Roman" panose="02020603050405020304" pitchFamily="18" charset="0"/>
              </a:rPr>
              <a:t>problem decomposition</a:t>
            </a:r>
            <a:r>
              <a:rPr lang="en-US" dirty="0">
                <a:latin typeface="Times New Roman" panose="02020603050405020304" pitchFamily="18" charset="0"/>
                <a:cs typeface="Times New Roman" panose="02020603050405020304" pitchFamily="18" charset="0"/>
              </a:rPr>
              <a:t>. Instead of attempting to move all the disks at once, the problem is solved by focusing on moving smaller stacks of disks until the complete solution is achieved.</a:t>
            </a:r>
          </a:p>
        </p:txBody>
      </p:sp>
    </p:spTree>
    <p:extLst>
      <p:ext uri="{BB962C8B-B14F-4D97-AF65-F5344CB8AC3E}">
        <p14:creationId xmlns:p14="http://schemas.microsoft.com/office/powerpoint/2010/main" val="884206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3A8C-4BD5-D739-C9FD-8A7826E95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553B8-249F-1B00-5BD6-41EE9EE2E21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solve it</a:t>
            </a:r>
          </a:p>
        </p:txBody>
      </p:sp>
      <p:sp>
        <p:nvSpPr>
          <p:cNvPr id="3" name="Content Placeholder 2">
            <a:extLst>
              <a:ext uri="{FF2B5EF4-FFF2-40B4-BE49-F238E27FC236}">
                <a16:creationId xmlns:a16="http://schemas.microsoft.com/office/drawing/2014/main" id="{43EE9187-F84D-5C87-59AA-FD4A447A5550}"/>
              </a:ext>
            </a:extLst>
          </p:cNvPr>
          <p:cNvSpPr>
            <a:spLocks noGrp="1"/>
          </p:cNvSpPr>
          <p:nvPr>
            <p:ph idx="1"/>
          </p:nvPr>
        </p:nvSpPr>
        <p:spPr>
          <a:xfrm>
            <a:off x="838200" y="1315092"/>
            <a:ext cx="10515600" cy="4861871"/>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To move a stack of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disks from the source peg to the destination peg, the third peg is used as an auxiliary or temporary storage space.</a:t>
            </a:r>
          </a:p>
          <a:p>
            <a:pPr marL="0" indent="0">
              <a:buNone/>
            </a:pPr>
            <a:r>
              <a:rPr lang="en-US" dirty="0">
                <a:latin typeface="Times New Roman" panose="02020603050405020304" pitchFamily="18" charset="0"/>
                <a:cs typeface="Times New Roman" panose="02020603050405020304" pitchFamily="18" charset="0"/>
              </a:rPr>
              <a:t>The process involves three main steps.</a:t>
            </a:r>
          </a:p>
          <a:p>
            <a:pPr lvl="1"/>
            <a:r>
              <a:rPr lang="en-US" dirty="0">
                <a:latin typeface="Times New Roman" panose="02020603050405020304" pitchFamily="18" charset="0"/>
                <a:cs typeface="Times New Roman" panose="02020603050405020304" pitchFamily="18" charset="0"/>
              </a:rPr>
              <a:t>First, the top </a:t>
            </a:r>
            <a:r>
              <a:rPr lang="en-US" i="1" dirty="0">
                <a:latin typeface="Times New Roman" panose="02020603050405020304" pitchFamily="18" charset="0"/>
                <a:cs typeface="Times New Roman" panose="02020603050405020304" pitchFamily="18" charset="0"/>
              </a:rPr>
              <a:t>n − 1</a:t>
            </a:r>
            <a:r>
              <a:rPr lang="en-US" dirty="0">
                <a:latin typeface="Times New Roman" panose="02020603050405020304" pitchFamily="18" charset="0"/>
                <a:cs typeface="Times New Roman" panose="02020603050405020304" pitchFamily="18" charset="0"/>
              </a:rPr>
              <a:t> disks are moved from the source peg to the auxiliary peg.</a:t>
            </a:r>
          </a:p>
          <a:p>
            <a:pPr lvl="2"/>
            <a:r>
              <a:rPr lang="en-US" dirty="0">
                <a:latin typeface="Times New Roman" panose="02020603050405020304" pitchFamily="18" charset="0"/>
                <a:cs typeface="Times New Roman" panose="02020603050405020304" pitchFamily="18" charset="0"/>
              </a:rPr>
              <a:t> This step reduces the original problem into a smaller instance of itself. 	</a:t>
            </a:r>
          </a:p>
          <a:p>
            <a:pPr lvl="1"/>
            <a:r>
              <a:rPr lang="en-US" dirty="0">
                <a:latin typeface="Times New Roman" panose="02020603050405020304" pitchFamily="18" charset="0"/>
                <a:cs typeface="Times New Roman" panose="02020603050405020304" pitchFamily="18" charset="0"/>
              </a:rPr>
              <a:t>Once the largest disk is free, it is moved directly from the source peg to the destination peg.</a:t>
            </a:r>
          </a:p>
          <a:p>
            <a:pPr lvl="1"/>
            <a:r>
              <a:rPr lang="en-US" dirty="0">
                <a:latin typeface="Times New Roman" panose="02020603050405020304" pitchFamily="18" charset="0"/>
                <a:cs typeface="Times New Roman" panose="02020603050405020304" pitchFamily="18" charset="0"/>
              </a:rPr>
              <a:t> Finally, the </a:t>
            </a:r>
            <a:r>
              <a:rPr lang="en-US" i="1" dirty="0">
                <a:latin typeface="Times New Roman" panose="02020603050405020304" pitchFamily="18" charset="0"/>
                <a:cs typeface="Times New Roman" panose="02020603050405020304" pitchFamily="18" charset="0"/>
              </a:rPr>
              <a:t>n − 1</a:t>
            </a:r>
            <a:r>
              <a:rPr lang="en-US" dirty="0">
                <a:latin typeface="Times New Roman" panose="02020603050405020304" pitchFamily="18" charset="0"/>
                <a:cs typeface="Times New Roman" panose="02020603050405020304" pitchFamily="18" charset="0"/>
              </a:rPr>
              <a:t> disks are moved from the auxiliary peg onto the destination peg, placing them on top of the larger disk.</a:t>
            </a:r>
          </a:p>
        </p:txBody>
      </p:sp>
    </p:spTree>
    <p:extLst>
      <p:ext uri="{BB962C8B-B14F-4D97-AF65-F5344CB8AC3E}">
        <p14:creationId xmlns:p14="http://schemas.microsoft.com/office/powerpoint/2010/main" val="2255169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57A2-07B0-F2DD-AB98-69607F012EE2}"/>
              </a:ext>
            </a:extLst>
          </p:cNvPr>
          <p:cNvSpPr>
            <a:spLocks noGrp="1"/>
          </p:cNvSpPr>
          <p:nvPr>
            <p:ph type="title"/>
          </p:nvPr>
        </p:nvSpPr>
        <p:spPr/>
        <p:txBody>
          <a:bodyPr vert="horz" lIns="91440" tIns="45720" rIns="91440" bIns="45720" rtlCol="0" anchor="ctr">
            <a:normAutofit/>
          </a:bodyPr>
          <a:lstStyle/>
          <a:p>
            <a:r>
              <a:rPr lang="en-US" dirty="0">
                <a:latin typeface="Times New Roman" panose="02020603050405020304" pitchFamily="18" charset="0"/>
                <a:cs typeface="Times New Roman" panose="02020603050405020304" pitchFamily="18" charset="0"/>
              </a:rPr>
              <a:t>How to solve it</a:t>
            </a:r>
          </a:p>
        </p:txBody>
      </p:sp>
      <p:sp>
        <p:nvSpPr>
          <p:cNvPr id="3" name="Content Placeholder 2">
            <a:extLst>
              <a:ext uri="{FF2B5EF4-FFF2-40B4-BE49-F238E27FC236}">
                <a16:creationId xmlns:a16="http://schemas.microsoft.com/office/drawing/2014/main" id="{B43F50D1-362F-B95F-C350-883810A56D52}"/>
              </a:ext>
            </a:extLst>
          </p:cNvPr>
          <p:cNvSpPr>
            <a:spLocks noGrp="1"/>
          </p:cNvSpPr>
          <p:nvPr>
            <p:ph sz="half" idx="1"/>
          </p:nvPr>
        </p:nvSpPr>
        <p:spPr/>
        <p:txBody>
          <a:bodyPr>
            <a:normAutofit/>
          </a:bodyPr>
          <a:lstStyle/>
          <a:p>
            <a:r>
              <a:rPr lang="en-US" dirty="0">
                <a:latin typeface="Times New Roman" panose="02020603050405020304" pitchFamily="18" charset="0"/>
                <a:cs typeface="Times New Roman" panose="02020603050405020304" pitchFamily="18" charset="0"/>
              </a:rPr>
              <a:t>This strategy leads naturally to a recursive solution, which is a fundamental concept in both Artificial Intelligence and computer science.</a:t>
            </a:r>
          </a:p>
          <a:p>
            <a:endParaRPr lang="en-US" dirty="0"/>
          </a:p>
        </p:txBody>
      </p:sp>
      <p:sp>
        <p:nvSpPr>
          <p:cNvPr id="4" name="Content Placeholder 3">
            <a:extLst>
              <a:ext uri="{FF2B5EF4-FFF2-40B4-BE49-F238E27FC236}">
                <a16:creationId xmlns:a16="http://schemas.microsoft.com/office/drawing/2014/main" id="{A06C8C78-D9F0-CDC9-C756-DC2825D242D5}"/>
              </a:ext>
            </a:extLst>
          </p:cNvPr>
          <p:cNvSpPr>
            <a:spLocks noGrp="1"/>
          </p:cNvSpPr>
          <p:nvPr>
            <p:ph sz="half" idx="2"/>
          </p:nvPr>
        </p:nvSpPr>
        <p:spPr/>
        <p:txBody>
          <a:bodyPr>
            <a:normAutofit/>
          </a:bodyPr>
          <a:lstStyle/>
          <a:p>
            <a:r>
              <a:rPr lang="en-US" dirty="0">
                <a:latin typeface="Times New Roman" panose="02020603050405020304" pitchFamily="18" charset="0"/>
                <a:cs typeface="Times New Roman" panose="02020603050405020304" pitchFamily="18" charset="0"/>
              </a:rPr>
              <a:t>In recursion, a problem is solved by repeatedly applying the same solution method to smaller versions of the problem. The base case occurs when there is only one disk to move. In that case, the solution is straightforward: the disk is moved directly from the source peg to the destination peg.</a:t>
            </a:r>
          </a:p>
          <a:p>
            <a:endParaRPr lang="en-US" dirty="0"/>
          </a:p>
        </p:txBody>
      </p:sp>
    </p:spTree>
    <p:extLst>
      <p:ext uri="{BB962C8B-B14F-4D97-AF65-F5344CB8AC3E}">
        <p14:creationId xmlns:p14="http://schemas.microsoft.com/office/powerpoint/2010/main" val="3723258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37D50-7A3A-B8C4-497D-5F1B428BD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EFB70-31D9-F2C1-F470-6365233CA0A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solve it</a:t>
            </a:r>
          </a:p>
        </p:txBody>
      </p:sp>
      <p:sp>
        <p:nvSpPr>
          <p:cNvPr id="3" name="Content Placeholder 2">
            <a:extLst>
              <a:ext uri="{FF2B5EF4-FFF2-40B4-BE49-F238E27FC236}">
                <a16:creationId xmlns:a16="http://schemas.microsoft.com/office/drawing/2014/main" id="{320C634C-D790-7E41-6689-A565FA52C324}"/>
              </a:ext>
            </a:extLst>
          </p:cNvPr>
          <p:cNvSpPr>
            <a:spLocks noGrp="1"/>
          </p:cNvSpPr>
          <p:nvPr>
            <p:ph idx="1"/>
          </p:nvPr>
        </p:nvSpPr>
        <p:spPr>
          <a:xfrm>
            <a:off x="838200" y="1345915"/>
            <a:ext cx="10515600" cy="4831048"/>
          </a:xfrm>
        </p:spPr>
        <p:txBody>
          <a:bodyPr>
            <a:normAutofit fontScale="85000" lnSpcReduction="10000"/>
          </a:bodyPr>
          <a:lstStyle/>
          <a:p>
            <a:pPr marL="0" indent="0">
              <a:buNone/>
            </a:pPr>
            <a:r>
              <a:rPr lang="en-US" dirty="0">
                <a:latin typeface="Times New Roman" panose="02020603050405020304" pitchFamily="18" charset="0"/>
                <a:cs typeface="Times New Roman" panose="02020603050405020304" pitchFamily="18" charset="0"/>
              </a:rPr>
              <a:t>From an AI viewpoint, this solution can also be interpreted as a search problem. Each legal move represents a transition between states, and the goal is to find an optimal path from the initial state to the goal state. </a:t>
            </a:r>
          </a:p>
          <a:p>
            <a:pPr marL="0" indent="0">
              <a:buNone/>
            </a:pPr>
            <a:r>
              <a:rPr lang="en-US" dirty="0">
                <a:latin typeface="Times New Roman" panose="02020603050405020304" pitchFamily="18" charset="0"/>
                <a:cs typeface="Times New Roman" panose="02020603050405020304" pitchFamily="18" charset="0"/>
              </a:rPr>
              <a:t>The Tower of Hanoi has a known optimal solution, meaning the minimum number of moves required to solve the problem with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disks is: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2n−12</a:t>
            </a:r>
            <a:r>
              <a:rPr lang="en-US" baseline="30000"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- 12n−1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This formula highlights the concept of exponential growth, which is a major challenge in Artificial Intelligence. Even a small increase in the number of disks leads to a large increase in the number of required moves. For example, 3 disks require 7 moves, 4 disks require 15 moves, and 10 disks require 1,023 moves. This demonstrates why intelligent problem-solving strategies are necessary, as brute-force approaches become impractical for large problem sizes.</a:t>
            </a:r>
          </a:p>
        </p:txBody>
      </p:sp>
    </p:spTree>
    <p:extLst>
      <p:ext uri="{BB962C8B-B14F-4D97-AF65-F5344CB8AC3E}">
        <p14:creationId xmlns:p14="http://schemas.microsoft.com/office/powerpoint/2010/main" val="3286244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619FF-F568-A02E-3887-B06C75ECD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F475A-CD04-AAC1-9161-08EE579EA73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solve it</a:t>
            </a:r>
          </a:p>
        </p:txBody>
      </p:sp>
      <p:sp>
        <p:nvSpPr>
          <p:cNvPr id="3" name="Content Placeholder 2">
            <a:extLst>
              <a:ext uri="{FF2B5EF4-FFF2-40B4-BE49-F238E27FC236}">
                <a16:creationId xmlns:a16="http://schemas.microsoft.com/office/drawing/2014/main" id="{AE21F2F0-2E72-0153-FFA9-13CADEEF435A}"/>
              </a:ext>
            </a:extLst>
          </p:cNvPr>
          <p:cNvSpPr>
            <a:spLocks noGrp="1"/>
          </p:cNvSpPr>
          <p:nvPr>
            <p:ph idx="1"/>
          </p:nvPr>
        </p:nvSpPr>
        <p:spPr>
          <a:xfrm>
            <a:off x="838200" y="1345915"/>
            <a:ext cx="10515600" cy="483104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In practice, small instances of the Tower of Hanoi can be solved manually, but larger instances are best handled using computer programs. Implementing the solution in code helps visualize the recursive process and reinforces key AI concepts such as planning, state transitions, and algorithm efficiency.</a:t>
            </a:r>
          </a:p>
        </p:txBody>
      </p:sp>
    </p:spTree>
    <p:extLst>
      <p:ext uri="{BB962C8B-B14F-4D97-AF65-F5344CB8AC3E}">
        <p14:creationId xmlns:p14="http://schemas.microsoft.com/office/powerpoint/2010/main" val="4238074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7FF76-61B7-B4A7-6BAA-CF05EACC1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ED5F7-AF5F-042F-D9CF-660A60EED8F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3F42B6A-EC5E-7BFD-4220-8BC0D6581666}"/>
              </a:ext>
            </a:extLst>
          </p:cNvPr>
          <p:cNvSpPr>
            <a:spLocks noGrp="1"/>
          </p:cNvSpPr>
          <p:nvPr>
            <p:ph idx="1"/>
          </p:nvPr>
        </p:nvSpPr>
        <p:spPr>
          <a:xfrm>
            <a:off x="838200" y="1345915"/>
            <a:ext cx="10515600" cy="483104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Tower of Hanoi is more than just a puzzle; it is a powerful model for understanding problem solving in Artificial Intelligence. It demonstrates how problems can be formally represented using states, actions, constraints, and goals, and how intelligent agents can systematically search for optimal solutions. Through its recursive structure and exponential complexity, the Tower of Hanoi provides valuable insight into algorithm design, efficiency, and the challenges of large state spaces. The lessons learned from this problem extend beyond the puzzle itself and apply directly to many real-world AI and computational </a:t>
            </a:r>
            <a:r>
              <a:rPr lang="en-US">
                <a:latin typeface="Times New Roman" panose="02020603050405020304" pitchFamily="18" charset="0"/>
                <a:cs typeface="Times New Roman" panose="02020603050405020304" pitchFamily="18" charset="0"/>
              </a:rPr>
              <a:t>problem-solving tasks.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628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B8249E6E-DA15-817D-676A-F0922617F7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p:blipFill>
        <p:spPr bwMode="auto">
          <a:xfrm>
            <a:off x="0" y="1"/>
            <a:ext cx="12191999" cy="701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037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822</TotalTime>
  <Words>1060</Words>
  <Application>Microsoft Office PowerPoint</Application>
  <PresentationFormat>Widescreen</PresentationFormat>
  <Paragraphs>64</Paragraphs>
  <Slides>17</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Tahoma</vt:lpstr>
      <vt:lpstr>Times New Roman</vt:lpstr>
      <vt:lpstr>Office Theme</vt:lpstr>
      <vt:lpstr>The Tower of Hanoi</vt:lpstr>
      <vt:lpstr>Group members:</vt:lpstr>
      <vt:lpstr>What is the Tower of Hanoi?</vt:lpstr>
      <vt:lpstr>What is the Tower of Hanoi?</vt:lpstr>
      <vt:lpstr>Major challenges in solving the Tower of Hanoi</vt:lpstr>
      <vt:lpstr>Major challenges in solving the Tower of Hanoi</vt:lpstr>
      <vt:lpstr>Major challenges in solving the Tower of Hanoi</vt:lpstr>
      <vt:lpstr>Major challenges in solving the Tower of Hanoi</vt:lpstr>
      <vt:lpstr>Major challenges in solving the Tower of Hanoi</vt:lpstr>
      <vt:lpstr>How to solve it</vt:lpstr>
      <vt:lpstr>How to solve it</vt:lpstr>
      <vt:lpstr>How to solve it</vt:lpstr>
      <vt:lpstr>How to solve it</vt:lpstr>
      <vt:lpstr>How to solve it</vt:lpstr>
      <vt:lpstr>How to solve it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242040021 Ndakwe  Danjuma</dc:creator>
  <cp:lastModifiedBy>Jwambe Danjuma</cp:lastModifiedBy>
  <cp:revision>6</cp:revision>
  <dcterms:created xsi:type="dcterms:W3CDTF">2026-01-10T18:55:59Z</dcterms:created>
  <dcterms:modified xsi:type="dcterms:W3CDTF">2026-01-12T07:24:49Z</dcterms:modified>
</cp:coreProperties>
</file>